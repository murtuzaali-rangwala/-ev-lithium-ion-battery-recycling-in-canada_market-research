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9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684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72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905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1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10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29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89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46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886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916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433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70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eb of dots connected">
            <a:extLst>
              <a:ext uri="{FF2B5EF4-FFF2-40B4-BE49-F238E27FC236}">
                <a16:creationId xmlns:a16="http://schemas.microsoft.com/office/drawing/2014/main" id="{FCBF38C9-D9F3-E4D4-F77A-44AC4CA24E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445" b="1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7FE36-C427-AC86-6F98-EEB0F2B56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7858" y="2216805"/>
            <a:ext cx="4359744" cy="2738530"/>
          </a:xfrm>
        </p:spPr>
        <p:txBody>
          <a:bodyPr anchor="t">
            <a:normAutofit/>
          </a:bodyPr>
          <a:lstStyle/>
          <a:p>
            <a:pPr algn="ctr"/>
            <a:r>
              <a:rPr lang="en-US" dirty="0"/>
              <a:t>EV BATTERY RECYCLING IN CANADA</a:t>
            </a:r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098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1589-F9C0-3482-19CC-775EE0E7B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Canada's EV Battery Recycling Opportunity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0A1F-B91A-A56C-8FAA-7CDAA7DEB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Facts:</a:t>
            </a:r>
            <a:br>
              <a:rPr lang="en-US" dirty="0"/>
            </a:br>
            <a:r>
              <a:rPr lang="en-US" dirty="0"/>
              <a:t>• 93,000 EV batteries need recycling by 2040</a:t>
            </a:r>
            <a:br>
              <a:rPr lang="en-US" dirty="0"/>
            </a:br>
            <a:r>
              <a:rPr lang="en-US" dirty="0"/>
              <a:t>• 500,000 batteries by 2045</a:t>
            </a:r>
            <a:br>
              <a:rPr lang="en-US" dirty="0"/>
            </a:br>
            <a:r>
              <a:rPr lang="en-US" dirty="0"/>
              <a:t>• Current capacity will be exhausted by 2034–2038 without new investment</a:t>
            </a:r>
            <a:br>
              <a:rPr lang="en-US" dirty="0"/>
            </a:br>
            <a:r>
              <a:rPr lang="en-US" dirty="0"/>
              <a:t>• Canada targeting 100% zero-emission vehicle sales by 2035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sz="1000" b="1" dirty="0"/>
          </a:p>
          <a:p>
            <a:pPr marL="0" indent="0">
              <a:buNone/>
            </a:pPr>
            <a:r>
              <a:rPr lang="en-US" sz="1000" b="1" dirty="0"/>
              <a:t>Source:</a:t>
            </a:r>
            <a:r>
              <a:rPr lang="en-US" sz="1000" dirty="0"/>
              <a:t> Lark Scientific (2025); Electric Mobility Canada (2025)</a:t>
            </a:r>
          </a:p>
        </p:txBody>
      </p:sp>
    </p:spTree>
    <p:extLst>
      <p:ext uri="{BB962C8B-B14F-4D97-AF65-F5344CB8AC3E}">
        <p14:creationId xmlns:p14="http://schemas.microsoft.com/office/powerpoint/2010/main" val="2322834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D5F46-61C7-6A96-4713-5B6EB0F8A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MARKET GAPS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D857270-646D-0FAD-FFF0-6C84E8EF1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200" b="1" dirty="0"/>
              <a:t>Current State:</a:t>
            </a:r>
            <a:br>
              <a:rPr lang="en-US" sz="2200" dirty="0"/>
            </a:br>
            <a:r>
              <a:rPr lang="en-US" sz="2200" dirty="0"/>
              <a:t>• 3 recycling facilities (Quebec, Ontario, multiple provinces)</a:t>
            </a:r>
            <a:br>
              <a:rPr lang="en-US" sz="2200" dirty="0"/>
            </a:br>
            <a:r>
              <a:rPr lang="en-US" sz="2200" dirty="0"/>
              <a:t>• Mostly handle manufacturing scrap</a:t>
            </a:r>
            <a:br>
              <a:rPr lang="en-US" sz="2200" dirty="0"/>
            </a:br>
            <a:r>
              <a:rPr lang="en-US" sz="2200" dirty="0"/>
              <a:t>• Pilot-stage operations only</a:t>
            </a:r>
          </a:p>
          <a:p>
            <a:r>
              <a:rPr lang="en-US" sz="2200" b="1" dirty="0"/>
              <a:t>What's Missing:</a:t>
            </a:r>
            <a:br>
              <a:rPr lang="en-US" sz="2200" dirty="0"/>
            </a:br>
            <a:r>
              <a:rPr lang="en-US" sz="2200" dirty="0"/>
              <a:t>• No national EV battery EPR framework</a:t>
            </a:r>
            <a:br>
              <a:rPr lang="en-US" sz="2200" dirty="0"/>
            </a:br>
            <a:r>
              <a:rPr lang="en-US" sz="2200" dirty="0"/>
              <a:t>• Provincial fragmentation prevents collection networks</a:t>
            </a:r>
            <a:br>
              <a:rPr lang="en-US" sz="2200" dirty="0"/>
            </a:br>
            <a:r>
              <a:rPr lang="en-US" sz="2200" dirty="0"/>
              <a:t>• Limited end-of-life battery collection</a:t>
            </a:r>
            <a:br>
              <a:rPr lang="en-US" sz="2200" dirty="0"/>
            </a:br>
            <a:r>
              <a:rPr lang="en-US" sz="2200" dirty="0"/>
              <a:t>• Minimal commercial-scale recycling</a:t>
            </a:r>
          </a:p>
          <a:p>
            <a:pPr marL="0" indent="0">
              <a:buNone/>
            </a:pPr>
            <a:endParaRPr lang="en-US" sz="1100" b="1" dirty="0"/>
          </a:p>
          <a:p>
            <a:pPr marL="0" indent="0">
              <a:buNone/>
            </a:pPr>
            <a:r>
              <a:rPr lang="en-US" sz="1100" b="1" dirty="0"/>
              <a:t>Source:</a:t>
            </a:r>
            <a:r>
              <a:rPr lang="en-US" sz="1100" dirty="0"/>
              <a:t> Compliance and Risks (2025); Canadian Broadcasting Corporation (2025)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9712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17741-D17E-7E69-BFB9-8F8DFC066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METAL RECOVERY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4D3DA-0D27-2B60-213F-2281EEB76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Annual Output (10,000 tonnes input):</a:t>
            </a:r>
            <a:br>
              <a:rPr lang="en-IN" dirty="0"/>
            </a:br>
            <a:r>
              <a:rPr lang="en-IN" dirty="0"/>
              <a:t>• Lithium: 128 tonnes</a:t>
            </a:r>
            <a:br>
              <a:rPr lang="en-IN" dirty="0"/>
            </a:br>
            <a:r>
              <a:rPr lang="en-IN" dirty="0"/>
              <a:t>• Nickel: 1,282 tonnes</a:t>
            </a:r>
            <a:br>
              <a:rPr lang="en-IN" dirty="0"/>
            </a:br>
            <a:r>
              <a:rPr lang="en-IN" dirty="0"/>
              <a:t>• Cobalt: 523 tonnes</a:t>
            </a:r>
            <a:br>
              <a:rPr lang="en-IN" dirty="0"/>
            </a:br>
            <a:r>
              <a:rPr lang="en-IN" dirty="0"/>
              <a:t>• Manganese: 900 tonnes</a:t>
            </a:r>
          </a:p>
          <a:p>
            <a:r>
              <a:rPr lang="en-IN" b="1" dirty="0"/>
              <a:t>CO₂ Impact:</a:t>
            </a:r>
            <a:br>
              <a:rPr lang="en-IN" dirty="0"/>
            </a:br>
            <a:r>
              <a:rPr lang="en-IN" dirty="0"/>
              <a:t>• 15,000 tonnes CO₂ avoided annually</a:t>
            </a:r>
            <a:br>
              <a:rPr lang="en-IN" dirty="0"/>
            </a:br>
            <a:r>
              <a:rPr lang="en-IN" dirty="0"/>
              <a:t>• Equivalent to 3,200 cars off roads for one year</a:t>
            </a:r>
          </a:p>
          <a:p>
            <a:pPr marL="0" indent="0">
              <a:buNone/>
            </a:pPr>
            <a:r>
              <a:rPr lang="fr-FR" sz="1000" b="1" dirty="0"/>
              <a:t>Source:</a:t>
            </a:r>
            <a:r>
              <a:rPr lang="fr-FR" sz="1000" dirty="0"/>
              <a:t> Ni et al. (2024); ICCT (2023)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424444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DF291-A37B-4856-986A-399EE6799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4A5DF-FA67-50D2-D3AE-2BF7E75DC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5 Key Priorities</a:t>
            </a:r>
          </a:p>
          <a:p>
            <a:r>
              <a:rPr lang="en-US" b="1" dirty="0"/>
              <a:t>National EPR Framework</a:t>
            </a:r>
            <a:r>
              <a:rPr lang="en-US" dirty="0"/>
              <a:t> – Harmonize battery collection across provinces</a:t>
            </a:r>
          </a:p>
          <a:p>
            <a:r>
              <a:rPr lang="en-US" b="1" dirty="0"/>
              <a:t>Regional Hubs</a:t>
            </a:r>
            <a:r>
              <a:rPr lang="en-US" dirty="0"/>
              <a:t> – Build 2–3 facilities in BC, ON, QC</a:t>
            </a:r>
          </a:p>
          <a:p>
            <a:r>
              <a:rPr lang="en-US" b="1" dirty="0"/>
              <a:t>Technology Adoption</a:t>
            </a:r>
            <a:r>
              <a:rPr lang="en-US" dirty="0"/>
              <a:t> – Deploy direct recycling to achieve ≥95% recovery rates</a:t>
            </a:r>
          </a:p>
          <a:p>
            <a:r>
              <a:rPr lang="en-US" b="1" dirty="0"/>
              <a:t>Collection Networks</a:t>
            </a:r>
            <a:r>
              <a:rPr lang="en-US" dirty="0"/>
              <a:t> – Partner with OEMs, dealerships, fleets</a:t>
            </a:r>
          </a:p>
          <a:p>
            <a:r>
              <a:rPr lang="en-US" b="1" dirty="0"/>
              <a:t>Research</a:t>
            </a:r>
            <a:r>
              <a:rPr lang="en-US" dirty="0"/>
              <a:t> – Model capital costs, logistics</a:t>
            </a:r>
          </a:p>
        </p:txBody>
      </p:sp>
    </p:spTree>
    <p:extLst>
      <p:ext uri="{BB962C8B-B14F-4D97-AF65-F5344CB8AC3E}">
        <p14:creationId xmlns:p14="http://schemas.microsoft.com/office/powerpoint/2010/main" val="163591053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Grandview Display</vt:lpstr>
      <vt:lpstr>DashVTI</vt:lpstr>
      <vt:lpstr>EV BATTERY RECYCLING IN CANADA</vt:lpstr>
      <vt:lpstr>Canada's EV Battery Recycling Opportunity</vt:lpstr>
      <vt:lpstr>MARKET GAPS</vt:lpstr>
      <vt:lpstr>METAL RECOVERY POTENTIAL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Murtuzaali Rangwala</dc:creator>
  <cp:lastModifiedBy>Murtuzaali Rangwala</cp:lastModifiedBy>
  <cp:revision>1</cp:revision>
  <dcterms:created xsi:type="dcterms:W3CDTF">2026-01-05T03:43:47Z</dcterms:created>
  <dcterms:modified xsi:type="dcterms:W3CDTF">2026-01-05T03:54:59Z</dcterms:modified>
</cp:coreProperties>
</file>